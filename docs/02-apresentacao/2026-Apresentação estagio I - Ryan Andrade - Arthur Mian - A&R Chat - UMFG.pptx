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19"/>
    <p:sldId id="263" r:id="rId7"/>
    <p:sldId id="270" r:id="rId20"/>
    <p:sldId id="268" r:id="rId18"/>
    <p:sldId id="267" r:id="rId17"/>
    <p:sldId id="266" r:id="rId16"/>
    <p:sldId id="265" r:id="rId15"/>
    <p:sldId id="274" r:id="rId24"/>
    <p:sldId id="264" r:id="rId14"/>
    <p:sldId id="261" r:id="rId8"/>
    <p:sldId id="273" r:id="rId23"/>
    <p:sldId id="272" r:id="rId22"/>
    <p:sldId id="271" r:id="rId21"/>
    <p:sldId id="262" r:id="rId9"/>
  </p:sldIdLst>
  <p:sldSz cx="13439775" cy="7559675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5" d="100"/>
          <a:sy n="55" d="100"/>
        </p:scale>
        <p:origin x="10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  <Relationship Id="rId14" Type="http://schemas.openxmlformats.org/officeDocument/2006/relationships/slide" Target="slides/slide9.xml"/>
  <Relationship Id="rId15" Type="http://schemas.openxmlformats.org/officeDocument/2006/relationships/slide" Target="slides/slide10.xml"/>
  <Relationship Id="rId16" Type="http://schemas.openxmlformats.org/officeDocument/2006/relationships/slide" Target="slides/slide11.xml"/>
  <Relationship Id="rId17" Type="http://schemas.openxmlformats.org/officeDocument/2006/relationships/slide" Target="slides/slide12.xml"/>
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  <Relationship Id="rId21" Type="http://schemas.openxmlformats.org/officeDocument/2006/relationships/slide" Target="slides/slide16.xml"/>
  <Relationship Id="rId22" Type="http://schemas.openxmlformats.org/officeDocument/2006/relationships/slide" Target="slides/slide17.xml"/>
  <Relationship Id="rId23" Type="http://schemas.openxmlformats.org/officeDocument/2006/relationships/slide" Target="slides/slide18.xml"/>
  <Relationship Id="rId24" Type="http://schemas.openxmlformats.org/officeDocument/2006/relationships/slide" Target="slides/slide19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99D8650-6570-41A6-9678-05830CE7BA65}" type="slidenum">
              <a:t>‹nº›</a:t>
            </a:fld>
            <a:endParaRPr dirty="0"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71947" y="1769040"/>
            <a:ext cx="12094568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7C70EBD-518F-4D6F-B8FA-7B25EAA596FE}" type="slidenum"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12094568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911A949-624E-4BF2-BB36-85CD6F210E1F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5902095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869699" y="1769040"/>
            <a:ext cx="5902095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D4D31F4-8086-4E6E-9273-9ADCC760975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33B144B-68F0-47AB-85E5-2E73C88141DD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71947" y="301320"/>
            <a:ext cx="12094568" cy="5851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AAA964A-80A5-4B47-A77F-3E5E0C3D56D9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869699" y="1769040"/>
            <a:ext cx="5902095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71947" y="43754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7F58D15-1726-4A9A-A288-D3B5BF7D21E6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5902095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869699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869699" y="43754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F40AD55-9C5C-4DAC-8EBE-EB954C3A8432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869699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71947" y="4375440"/>
            <a:ext cx="12094568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895F133-70E3-42E7-B743-3B464F31A2B1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12094568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71947" y="4375440"/>
            <a:ext cx="12094568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F3F0022-7E6F-476B-AA80-0C311DE60CD8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869699" y="17690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71947" y="43754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869699" y="4375440"/>
            <a:ext cx="5902095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4598682-B978-4FBE-953D-3F92E2F2DDE0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71947" y="301320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pt-BR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71947" y="17690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761225" y="17690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850023" y="17690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71947" y="43754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761225" y="43754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850023" y="4375440"/>
            <a:ext cx="3893933" cy="23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D29D4AE-6DC3-4C74-AA56-202B07FDAF45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71947" y="18677"/>
            <a:ext cx="12094568" cy="12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pt-BR" sz="4400" b="0" strike="noStrike" spc="-1" dirty="0">
                <a:latin typeface="Arial"/>
              </a:rPr>
              <a:t>Clique para editar o formato do texto do título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71947" y="1769040"/>
            <a:ext cx="12094568" cy="498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29" lvl="1" indent="-324011">
              <a:spcAft>
                <a:spcPts val="113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43" lvl="2" indent="-288010">
              <a:spcAft>
                <a:spcPts val="850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58" lvl="3" indent="-216007">
              <a:spcAft>
                <a:spcPts val="56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72" lvl="4" indent="-216007">
              <a:spcAft>
                <a:spcPts val="283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86" lvl="5" indent="-216007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101" lvl="6" indent="-216007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671947" y="6887160"/>
            <a:ext cx="3130793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>
              <a:defRPr lang="pt-BR" sz="1400" b="0" strike="noStrike" spc="-1">
                <a:latin typeface="Times New Roman"/>
              </a:defRPr>
            </a:lvl1pPr>
          </a:lstStyle>
          <a:p>
            <a:r>
              <a:rPr lang="pt-BR" sz="1400" b="0" strike="noStrike" spc="-1">
                <a:latin typeface="Times New Roman"/>
              </a:rPr>
              <a:t>&lt;data/hora&gt;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4596118" y="6887160"/>
            <a:ext cx="4259665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ct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ctr">
              <a:buNone/>
            </a:pPr>
            <a:r>
              <a:rPr lang="pt-BR" sz="1400" b="0" strike="noStrike" spc="-1">
                <a:latin typeface="Times New Roman"/>
              </a:rPr>
              <a:t>&lt;rodapé&gt;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9635241" y="6887160"/>
            <a:ext cx="3130793" cy="521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buNone/>
              <a:defRPr lang="pt-BR" sz="1400" b="0" strike="noStrike" spc="-1">
                <a:latin typeface="Times New Roman"/>
              </a:defRPr>
            </a:lvl1pPr>
          </a:lstStyle>
          <a:p>
            <a:pPr algn="r">
              <a:buNone/>
            </a:pPr>
            <a:fld id="{54B8BCCC-E6E4-4732-A031-9E0A165F83AC}" type="slidenum">
              <a:rPr lang="pt-BR" sz="1400" b="0" strike="noStrike" spc="-1">
                <a:latin typeface="Times New Roman"/>
              </a:rPr>
              <a:t>‹nº›</a:t>
            </a:fld>
            <a:endParaRPr lang="pt-BR" sz="1400" b="0" strike="noStrike" spc="-1">
              <a:latin typeface="Times New Roman"/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1A742598-7167-4D4D-8165-586A8500C962}"/>
              </a:ext>
            </a:extLst>
          </p:cNvPr>
          <p:cNvSpPr/>
          <p:nvPr userDrawn="1"/>
        </p:nvSpPr>
        <p:spPr>
          <a:xfrm>
            <a:off x="-654" y="-6556"/>
            <a:ext cx="13439775" cy="1287393"/>
          </a:xfrm>
          <a:prstGeom prst="rect">
            <a:avLst/>
          </a:prstGeom>
          <a:solidFill>
            <a:schemeClr val="tx1">
              <a:lumMod val="85000"/>
              <a:lumOff val="15000"/>
              <a:alpha val="52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80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3D0AB06-850F-3B87-6B48-E7E2962CC57B}"/>
              </a:ext>
            </a:extLst>
          </p:cNvPr>
          <p:cNvPicPr/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33736" y="127398"/>
            <a:ext cx="2469082" cy="1153439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3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432000" indent="-324000" algn="l" defTabSz="914430" rtl="0" eaLnBrk="1" latinLnBrk="0" hangingPunct="1">
        <a:lnSpc>
          <a:spcPct val="90000"/>
        </a:lnSpc>
        <a:spcBef>
          <a:spcPts val="1000"/>
        </a:spcBef>
        <a:spcAft>
          <a:spcPts val="1417"/>
        </a:spcAft>
        <a:buClr>
          <a:srgbClr val="000000"/>
        </a:buClr>
        <a:buSzPct val="45000"/>
        <a:buFont typeface="Wingdings" charset="2"/>
        <a:buChar char="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3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8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4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9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84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9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14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30" indent="-228608" algn="l" defTabSz="91443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5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0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91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6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22" algn="l" defTabSz="9144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image" Target="../media/bcb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image" Target="../media/bcb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2" Type="http://schemas.openxmlformats.org/officeDocument/2006/relationships/image" Target="../media/bcb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2" Type="http://schemas.openxmlformats.org/officeDocument/2006/relationships/image" Target="../media/bcb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2" Type="http://schemas.openxmlformats.org/officeDocument/2006/relationships/image" Target="../media/bcb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2" Type="http://schemas.openxmlformats.org/officeDocument/2006/relationships/image" Target="../media/bcb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2" Type="http://schemas.openxmlformats.org/officeDocument/2006/relationships/image" Target="../media/bcb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2" Type="http://schemas.openxmlformats.org/officeDocument/2006/relationships/image" Target="../media/bcb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bcb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bcb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bcb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bcb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2AA7D3AC-EBB8-4EE2-A18A-6EBA27348F1C}"/>
              </a:ext>
            </a:extLst>
          </p:cNvPr>
          <p:cNvSpPr/>
          <p:nvPr/>
        </p:nvSpPr>
        <p:spPr>
          <a:xfrm>
            <a:off x="-1" y="3"/>
            <a:ext cx="13439775" cy="755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2E31496-A16E-4D3A-ACC1-FD6C10ED2A84}"/>
              </a:ext>
            </a:extLst>
          </p:cNvPr>
          <p:cNvSpPr/>
          <p:nvPr/>
        </p:nvSpPr>
        <p:spPr>
          <a:xfrm>
            <a:off x="0" y="-8314"/>
            <a:ext cx="13439774" cy="1287393"/>
          </a:xfrm>
          <a:prstGeom prst="rect">
            <a:avLst/>
          </a:prstGeom>
          <a:solidFill>
            <a:schemeClr val="tx1">
              <a:lumMod val="85000"/>
              <a:lumOff val="15000"/>
              <a:alpha val="52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CaixaDeTexto 40"/>
          <p:cNvSpPr txBox="1"/>
          <p:nvPr/>
        </p:nvSpPr>
        <p:spPr>
          <a:xfrm>
            <a:off x="1679575" y="3271320"/>
            <a:ext cx="10080000" cy="724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r>
              <a:rPr lang="pt-BR" sz="4800" b="1" spc="-1" dirty="0">
                <a:solidFill>
                  <a:srgbClr val="00008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"/>
              </a:rPr>
              <a:t xml:space="preserve">A&amp;R CHAT</a:t>
            </a:r>
          </a:p>
        </p:txBody>
      </p:sp>
      <p:sp>
        <p:nvSpPr>
          <p:cNvPr id="42" name="CaixaDeTexto 41"/>
          <p:cNvSpPr txBox="1"/>
          <p:nvPr/>
        </p:nvSpPr>
        <p:spPr>
          <a:xfrm>
            <a:off x="2327575" y="6912000"/>
            <a:ext cx="8784000" cy="367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r>
              <a:rPr lang="pt-BR" spc="-1" dirty="0">
                <a:latin typeface="Verdana"/>
              </a:rPr>
              <a:t xml:space="preserve">Cianorte-PR, Dez/2026.</a:t>
            </a:r>
          </a:p>
        </p:txBody>
      </p:sp>
      <p:sp>
        <p:nvSpPr>
          <p:cNvPr id="43" name="CaixaDeTexto 42"/>
          <p:cNvSpPr txBox="1"/>
          <p:nvPr/>
        </p:nvSpPr>
        <p:spPr>
          <a:xfrm>
            <a:off x="2255576" y="4752000"/>
            <a:ext cx="10317424" cy="17082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r">
              <a:buNone/>
            </a:pPr>
            <a:r>
              <a:rPr lang="pt-BR" sz="2000" b="1" spc="-1" dirty="0">
                <a:latin typeface="Arial"/>
              </a:rPr>
              <a:t xml:space="preserve">25001981 – Ryan Andrade</a:t>
            </a:r>
          </a:p>
          <a:p>
            <a:pPr algn="r">
              <a:buNone/>
            </a:pPr>
            <a:r>
              <a:rPr lang="pt-BR" sz="2000" b="1" spc="-1" dirty="0">
                <a:latin typeface="Arial"/>
              </a:rPr>
              <a:t xml:space="preserve">25002083 – Arthur Mian</a:t>
            </a:r>
          </a:p>
          <a:p>
            <a:pPr algn="r">
              <a:buNone/>
            </a:pPr>
            <a:r>
              <a:rPr lang="pt-BR" spc="-1" dirty="0">
                <a:latin typeface="Arial"/>
              </a:rPr>
              <a:t xml:space="preserve">Estagiários</a:t>
            </a:r>
          </a:p>
          <a:p>
            <a:pPr algn="r">
              <a:buNone/>
            </a:pPr>
            <a:r>
              <a:rPr lang="pt-BR" spc="-1" dirty="0">
                <a:latin typeface="Arial"/>
              </a:rPr>
              <a:t xml:space="preserve"/>
            </a:r>
          </a:p>
          <a:p>
            <a:pPr algn="r">
              <a:buNone/>
            </a:pPr>
            <a:r>
              <a:rPr lang="pt-BR" sz="2000" b="1" spc="-1" dirty="0">
                <a:latin typeface="Arial"/>
              </a:rPr>
              <a:t xml:space="preserve">Prof. Me. Guilherme Dias Vicentini</a:t>
            </a:r>
          </a:p>
          <a:p>
            <a:pPr algn="r">
              <a:buNone/>
            </a:pPr>
            <a:r>
              <a:rPr lang="pt-BR" spc="-1" dirty="0">
                <a:latin typeface="Arial"/>
              </a:rPr>
              <a:t xml:space="preserve">Orientador</a:t>
            </a:r>
          </a:p>
        </p:txBody>
      </p:sp>
      <p:sp>
        <p:nvSpPr>
          <p:cNvPr id="44" name="CaixaDeTexto 43"/>
          <p:cNvSpPr txBox="1"/>
          <p:nvPr/>
        </p:nvSpPr>
        <p:spPr>
          <a:xfrm>
            <a:off x="4415575" y="134996"/>
            <a:ext cx="7344000" cy="1063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algn="ctr">
              <a:buNone/>
            </a:pPr>
            <a:r>
              <a:rPr lang="pt-BR" sz="2400" b="1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Análise e Desenvolvimento de Sistemas (ADS) </a:t>
            </a:r>
            <a:endParaRPr lang="pt-BR" sz="2400" spc="-1" dirty="0">
              <a:solidFill>
                <a:schemeClr val="bg1">
                  <a:lumMod val="95000"/>
                </a:schemeClr>
              </a:solidFill>
              <a:latin typeface="Arial"/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2255576" y="2844000"/>
            <a:ext cx="8928000" cy="373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r>
              <a:rPr lang="pt-BR" sz="2800" b="1" spc="-1" dirty="0">
                <a:latin typeface="Arial"/>
              </a:rPr>
              <a:t xml:space="preserve">ESTÁGIO SUPERVISIONADO I - 2026:</a:t>
            </a:r>
          </a:p>
        </p:txBody>
      </p:sp>
      <p:pic>
        <p:nvPicPr>
          <p:cNvPr id="46" name="Imagem 4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13034" y="45359"/>
            <a:ext cx="2469082" cy="1153439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CaixaDeTexto 46"/>
          <p:cNvSpPr txBox="1"/>
          <p:nvPr/>
        </p:nvSpPr>
        <p:spPr>
          <a:xfrm>
            <a:off x="1079068" y="324000"/>
            <a:ext cx="11415642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>DADOS DA EMPRESA:</a:t>
            </a:r>
            <a:endParaRPr lang="pt-BR" sz="2600" spc="-1" dirty="0">
              <a:solidFill>
                <a:srgbClr val="FFDD00"/>
              </a:solidFill>
              <a:latin typeface="Arial"/>
            </a:endParaRPr>
          </a:p>
        </p:txBody>
      </p:sp>
      <p:sp>
        <p:nvSpPr>
          <p:cNvPr id="49" name="CaixaDeTexto 48"/>
          <p:cNvSpPr txBox="1"/>
          <p:nvPr/>
        </p:nvSpPr>
        <p:spPr>
          <a:xfrm>
            <a:off x="1151069" y="1221480"/>
            <a:ext cx="11228500" cy="42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Nome Fantasia: </a:t>
            </a:r>
            <a:r>
              <a:rPr lang="pt-BR" sz="2000" b="1" spc="-1" dirty="0">
                <a:latin typeface="Arial"/>
                <a:ea typeface="WenQuanYi Micro Hei"/>
              </a:rPr>
              <a:t xml:space="preserve">Supermercado São Pedro (Mian &amp; Guelfi Ltda)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Cidade-UF: </a:t>
            </a:r>
            <a:r>
              <a:rPr lang="pt-BR" sz="2000" b="1" spc="-1" dirty="0">
                <a:latin typeface="Arial"/>
                <a:ea typeface="WenQuanYi Micro Hei"/>
              </a:rPr>
              <a:t xml:space="preserve">Cianorte-PR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Proprietário: </a:t>
            </a:r>
            <a:r>
              <a:rPr lang="pt-BR" sz="2000" b="1" spc="-1" dirty="0">
                <a:latin typeface="Arial"/>
                <a:ea typeface="WenQuanYi Micro Hei"/>
              </a:rPr>
              <a:t xml:space="preserve">Claudinei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Supervisor do Estagiário: </a:t>
            </a:r>
            <a:r>
              <a:rPr lang="pt-BR" sz="2000" b="1" spc="-1" dirty="0">
                <a:latin typeface="Arial"/>
                <a:ea typeface="WenQuanYi Micro Hei"/>
              </a:rPr>
              <a:t xml:space="preserve">Claudinei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Cargo: </a:t>
            </a:r>
            <a:r>
              <a:rPr lang="pt-BR" sz="2000" b="1" spc="-1" dirty="0">
                <a:latin typeface="Arial"/>
                <a:ea typeface="WenQuanYi Micro Hei"/>
              </a:rPr>
              <a:t xml:space="preserve">Proprietário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spc="-1" dirty="0">
                <a:latin typeface="Arial"/>
                <a:ea typeface="WenQuanYi Micro Hei"/>
              </a:rPr>
              <a:t xml:space="preserve">Ramo de atividade: </a:t>
            </a:r>
            <a:r>
              <a:rPr lang="pt-BR" sz="2000" b="1" spc="-1" dirty="0">
                <a:latin typeface="Arial"/>
                <a:ea typeface="WenQuanYi Micro Hei"/>
              </a:rPr>
              <a:t xml:space="preserve">Supermercado — comércio varejista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aixaDeTexto 51"/>
          <p:cNvSpPr txBox="1"/>
          <p:nvPr/>
        </p:nvSpPr>
        <p:spPr>
          <a:xfrm>
            <a:off x="1160584" y="324000"/>
            <a:ext cx="11492093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>OBJETIVOS:</a:t>
            </a:r>
            <a:endParaRPr lang="pt-BR" sz="2600" spc="-1" dirty="0">
              <a:solidFill>
                <a:srgbClr val="FFDD00"/>
              </a:solidFill>
              <a:latin typeface="Arial"/>
            </a:endParaRPr>
          </a:p>
        </p:txBody>
      </p:sp>
      <p:sp>
        <p:nvSpPr>
          <p:cNvPr id="54" name="CaixaDeTexto 53"/>
          <p:cNvSpPr txBox="1"/>
          <p:nvPr/>
        </p:nvSpPr>
        <p:spPr>
          <a:xfrm>
            <a:off x="1251717" y="1500000"/>
            <a:ext cx="11303698" cy="50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		</a:t>
            </a:r>
            <a:r>
              <a:rPr lang="pt-BR" sz="2800" b="1" spc="-1" dirty="0">
                <a:latin typeface="Arial"/>
                <a:ea typeface="WenQuanYi Micro Hei"/>
              </a:rPr>
              <a:t xml:space="preserve">Desenvolver uma plataforma web para gerenciar o atendimento aos clientes pelo WhatsApp — com as conversas organizadas em aguardando, em andamento, em espera e finalizado — e disparar campanhas de marketing para quem autorizou, com cobrança por mensagem e prioridade para os avisos urgentes.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CaixaDeTexto 54"/>
          <p:cNvSpPr txBox="1"/>
          <p:nvPr/>
        </p:nvSpPr>
        <p:spPr>
          <a:xfrm>
            <a:off x="1228833" y="324000"/>
            <a:ext cx="11495356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>JUSTIFICATIVA:</a:t>
            </a:r>
            <a:endParaRPr lang="pt-BR" sz="2600" spc="-1" dirty="0">
              <a:solidFill>
                <a:srgbClr val="FFDD00"/>
              </a:solidFill>
              <a:latin typeface="Arial"/>
            </a:endParaRPr>
          </a:p>
        </p:txBody>
      </p:sp>
      <p:sp>
        <p:nvSpPr>
          <p:cNvPr id="57" name="CaixaDeTexto 56"/>
          <p:cNvSpPr txBox="1"/>
          <p:nvPr/>
        </p:nvSpPr>
        <p:spPr>
          <a:xfrm>
            <a:off x="1318846" y="1500000"/>
            <a:ext cx="11306908" cy="50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800" b="1" spc="-1" dirty="0">
                <a:latin typeface="Arial"/>
                <a:ea typeface="WenQuanYi Micro Hei"/>
              </a:rPr>
              <a:t xml:space="preserve">		No Supermercado São Pedro, o atendimento pelo WhatsApp é feito num celular da loja: as conversas se perdem, não se sabe quem está esperando resposta e as ofertas são enviadas uma a uma, sem controle de custo nem do consentimento dos clientes (LGPD). O A&amp;R Chat centraliza o atendimento, mede o tempo de resposta e organiza as campanhas.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CaixaDeTexto 57"/>
          <p:cNvSpPr txBox="1"/>
          <p:nvPr/>
        </p:nvSpPr>
        <p:spPr>
          <a:xfrm>
            <a:off x="1210956" y="324000"/>
            <a:ext cx="11298700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>RECURSOS TECNOLÓGICOS:</a:t>
            </a:r>
            <a:endParaRPr lang="pt-BR" sz="2600" spc="-1" dirty="0">
              <a:solidFill>
                <a:srgbClr val="FFDD00"/>
              </a:solidFill>
              <a:latin typeface="Arial"/>
            </a:endParaRPr>
          </a:p>
        </p:txBody>
      </p:sp>
      <p:sp>
        <p:nvSpPr>
          <p:cNvPr id="60" name="CaixaDeTexto 59"/>
          <p:cNvSpPr txBox="1"/>
          <p:nvPr/>
        </p:nvSpPr>
        <p:spPr>
          <a:xfrm>
            <a:off x="1301262" y="1512944"/>
            <a:ext cx="11113476" cy="45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Linguagem de Programação: </a:t>
            </a:r>
            <a:r>
              <a:rPr lang="pt-BR" sz="2800" b="1" spc="-1" dirty="0">
                <a:latin typeface="Arial"/>
                <a:ea typeface="WenQuanYi Micro Hei"/>
              </a:rPr>
              <a:t xml:space="preserve">Java 21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Framework: </a:t>
            </a:r>
            <a:r>
              <a:rPr lang="pt-BR" sz="2800" b="1" spc="-1" dirty="0">
                <a:latin typeface="Arial"/>
                <a:ea typeface="WenQuanYi Micro Hei"/>
              </a:rPr>
              <a:t xml:space="preserve">Spring Boot 4 (Web, Data JPA, Flyway)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Banco de Dados: </a:t>
            </a:r>
            <a:r>
              <a:rPr lang="pt-BR" sz="2800" b="1" spc="-1" dirty="0">
                <a:latin typeface="Arial"/>
                <a:ea typeface="WenQuanYi Micro Hei"/>
              </a:rPr>
              <a:t xml:space="preserve">PostgreSQL 16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Arquitetura: </a:t>
            </a:r>
            <a:r>
              <a:rPr lang="pt-BR" sz="2800" b="1" spc="-1" dirty="0">
                <a:latin typeface="Arial"/>
                <a:ea typeface="WenQuanYi Micro Hei"/>
              </a:rPr>
              <a:t xml:space="preserve">Arquitetura limpa (Clean Architecture)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Canal de envio: </a:t>
            </a:r>
            <a:r>
              <a:rPr lang="pt-BR" sz="2800" b="1" spc="-1" dirty="0">
                <a:latin typeface="Arial"/>
                <a:ea typeface="WenQuanYi Micro Hei"/>
              </a:rPr>
              <a:t xml:space="preserve">WhatsApp Web via Z-API (WhatsApp Business: em breve)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800" spc="-1" dirty="0">
                <a:latin typeface="Arial"/>
                <a:ea typeface="WenQuanYi Micro Hei"/>
              </a:rPr>
              <a:t xml:space="preserve">Outros Softwares: </a:t>
            </a:r>
            <a:r>
              <a:rPr lang="pt-BR" sz="2800" b="1" spc="-1" dirty="0">
                <a:latin typeface="Arial"/>
                <a:ea typeface="WenQuanYi Micro Hei"/>
              </a:rPr>
              <a:t xml:space="preserve">IntelliJ IDEA, Docker, Git/GitHub, PlantUML, Swagger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207" y="950000"/>
            <a:ext cx="6081585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CASO DE USO: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aixaDeTexto 60"/>
          <p:cNvSpPr txBox="1"/>
          <p:nvPr/>
        </p:nvSpPr>
        <p:spPr>
          <a:xfrm>
            <a:off x="1301262" y="324000"/>
            <a:ext cx="9810313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ARQUITETURA DO SISTEMA:</a:t>
            </a:r>
          </a:p>
        </p:txBody>
      </p:sp>
      <p:pic>
        <p:nvPicPr>
          <p:cNvPr id="63" name="Imagem 62"/>
          <p:cNvPicPr/>
          <p:nvPr/>
        </p:nvPicPr>
        <p:blipFill>
          <a:blip r:embed="rId2"/>
          <a:stretch/>
        </p:blipFill>
        <p:spPr>
          <a:xfrm>
            <a:off x="1924531" y="1000000"/>
            <a:ext cx="10400938" cy="5500000"/>
          </a:xfrm>
          <a:prstGeom prst="rect">
            <a:avLst/>
          </a:prstGeom>
          <a:ln w="0">
            <a:noFill/>
          </a:ln>
        </p:spPr>
      </p:pic>
      <p:sp>
        <p:nvSpPr>
          <p:cNvPr id="64" name="CaixaDeTexto 63"/>
          <p:cNvSpPr txBox="1"/>
          <p:nvPr/>
        </p:nvSpPr>
        <p:spPr>
          <a:xfrm>
            <a:off x="1300000" y="6600000"/>
            <a:ext cx="11650000" cy="602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/>
            <a:r>
              <a:rPr lang="pt-BR" b="1" spc="-1" dirty="0">
                <a:latin typeface="Arial"/>
              </a:rPr>
              <a:t xml:space="preserve">Figura 1</a:t>
            </a:r>
            <a:r>
              <a:rPr lang="pt-BR" spc="-1" dirty="0">
                <a:latin typeface="Arial"/>
              </a:rPr>
              <a:t xml:space="preserve"> – Arquitetura limpa do backend do A&amp;R Chat.</a:t>
            </a:r>
          </a:p>
          <a:p>
            <a:pPr algn="ctr"/>
            <a:r>
              <a:rPr lang="pt-BR" spc="-1" dirty="0">
                <a:latin typeface="Arial"/>
              </a:rPr>
              <a:t xml:space="preserve">Fonte: Os autores, 2026.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6F65E5D-0DF0-4214-9E0B-3814790707FB}"/>
              </a:ext>
            </a:extLst>
          </p:cNvPr>
          <p:cNvSpPr/>
          <p:nvPr/>
        </p:nvSpPr>
        <p:spPr>
          <a:xfrm>
            <a:off x="1679264" y="3424936"/>
            <a:ext cx="10080625" cy="1287393"/>
          </a:xfrm>
          <a:prstGeom prst="rect">
            <a:avLst/>
          </a:prstGeom>
          <a:solidFill>
            <a:schemeClr val="tx1">
              <a:lumMod val="85000"/>
              <a:lumOff val="15000"/>
              <a:alpha val="52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5" name="CaixaDeTexto 64"/>
          <p:cNvSpPr txBox="1"/>
          <p:nvPr/>
        </p:nvSpPr>
        <p:spPr>
          <a:xfrm>
            <a:off x="2475867" y="6312890"/>
            <a:ext cx="4824000" cy="75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tabLst>
                <a:tab pos="1406207" algn="l"/>
              </a:tabLst>
            </a:pPr>
            <a:r>
              <a:rPr lang="pt-BR" sz="2000" b="1" spc="-1" dirty="0">
                <a:latin typeface="Verdana"/>
              </a:rPr>
              <a:t xml:space="preserve">Ryan Andrade</a:t>
            </a:r>
          </a:p>
          <a:p>
            <a:pPr algn="just">
              <a:tabLst>
                <a:tab pos="1406207" algn="l"/>
              </a:tabLst>
            </a:pPr>
            <a:r>
              <a:rPr lang="pt-BR" sz="2000" spc="-1" dirty="0">
                <a:latin typeface="Verdana"/>
              </a:rPr>
              <a:t xml:space="preserve">RA 25001981</a:t>
            </a:r>
          </a:p>
        </p:txBody>
      </p:sp>
      <p:sp>
        <p:nvSpPr>
          <p:cNvPr id="67" name="CaixaDeTexto 66"/>
          <p:cNvSpPr txBox="1"/>
          <p:nvPr/>
        </p:nvSpPr>
        <p:spPr>
          <a:xfrm>
            <a:off x="2255576" y="3593610"/>
            <a:ext cx="8928000" cy="9500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r>
              <a:rPr lang="pt-BR" sz="4800" b="1" spc="-1" dirty="0">
                <a:solidFill>
                  <a:srgbClr val="FFDD00"/>
                </a:solidFill>
                <a:latin typeface="Arial Black"/>
              </a:rPr>
              <a:t>O B R I G A D O !</a:t>
            </a:r>
            <a:endParaRPr lang="pt-BR" sz="4800" spc="-1" dirty="0">
              <a:solidFill>
                <a:srgbClr val="FFDD00"/>
              </a:solidFill>
              <a:latin typeface="Arial"/>
            </a:endParaRPr>
          </a:p>
        </p:txBody>
      </p:sp>
      <p:sp>
        <p:nvSpPr>
          <p:cNvPr id="68" name="CaixaDeTexto 67"/>
          <p:cNvSpPr txBox="1"/>
          <p:nvPr/>
        </p:nvSpPr>
        <p:spPr>
          <a:xfrm>
            <a:off x="7299867" y="6312890"/>
            <a:ext cx="4752000" cy="75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tabLst>
                <a:tab pos="1406207" algn="l"/>
              </a:tabLst>
            </a:pPr>
            <a:r>
              <a:rPr lang="pt-BR" sz="2000" b="1" spc="-1" dirty="0">
                <a:latin typeface="Verdana"/>
              </a:rPr>
              <a:t xml:space="preserve">Arthur Mian</a:t>
            </a:r>
          </a:p>
          <a:p>
            <a:pPr algn="just">
              <a:tabLst>
                <a:tab pos="1406207" algn="l"/>
              </a:tabLst>
            </a:pPr>
            <a:r>
              <a:rPr lang="pt-BR" sz="2000" spc="-1" dirty="0">
                <a:latin typeface="Verdana"/>
              </a:rPr>
              <a:t xml:space="preserve">RA 25002083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219FD3A-A894-3911-F23C-336DEEDCC455}"/>
              </a:ext>
            </a:extLst>
          </p:cNvPr>
          <p:cNvSpPr txBox="1"/>
          <p:nvPr/>
        </p:nvSpPr>
        <p:spPr>
          <a:xfrm>
            <a:off x="5558990" y="5251003"/>
            <a:ext cx="67700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pt-BR" sz="1800" b="1" spc="-1" dirty="0">
                <a:latin typeface="Arial"/>
              </a:rPr>
              <a:t>Prof. Me. Guilherme Dias Vicentini</a:t>
            </a:r>
            <a:endParaRPr lang="pt-BR" sz="1800" spc="-1" dirty="0">
              <a:latin typeface="Arial"/>
            </a:endParaRPr>
          </a:p>
          <a:p>
            <a:pPr algn="r">
              <a:lnSpc>
                <a:spcPct val="100000"/>
              </a:lnSpc>
              <a:buNone/>
            </a:pPr>
            <a:r>
              <a:rPr lang="pt-BR" spc="-1" dirty="0">
                <a:latin typeface="Arial"/>
              </a:rPr>
              <a:t>Orientador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1046" y="950000"/>
            <a:ext cx="3607908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ENTIDADE E RELACIONAMENTO: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816" y="950000"/>
            <a:ext cx="7290367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SEQUÊNCIA – ENVIAR RESPOSTA: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167" y="950000"/>
            <a:ext cx="6053666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ATIVIDADES – ENVIAR RESPOSTA: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488" y="950000"/>
            <a:ext cx="3887023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ESTADOS – MENSAGEM: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5989" y="950000"/>
            <a:ext cx="5118022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CLASSES: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CaixaDeTexto 51"/>
          <p:cNvSpPr txBox="1"/>
          <p:nvPr/>
        </p:nvSpPr>
        <p:spPr>
          <a:xfrm>
            <a:off x="1160584" y="324000"/>
            <a:ext cx="11492093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FUNCIONALIDADES:</a:t>
            </a:r>
          </a:p>
        </p:txBody>
      </p:sp>
      <p:sp>
        <p:nvSpPr>
          <p:cNvPr id="54" name="CaixaDeTexto 53"/>
          <p:cNvSpPr txBox="1"/>
          <p:nvPr/>
        </p:nvSpPr>
        <p:spPr>
          <a:xfrm>
            <a:off x="1251717" y="1300000"/>
            <a:ext cx="11303698" cy="560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3 Cadastros: </a:t>
            </a:r>
            <a:r>
              <a:rPr lang="pt-BR" sz="2800" b="1" spc="-1" dirty="0">
                <a:latin typeface="Arial"/>
                <a:ea typeface="WenQuanYi Micro Hei"/>
              </a:rPr>
              <a:t xml:space="preserve">Clientes, Destinatários (contatos e grupos) e Administradores.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3 Movimentações: </a:t>
            </a:r>
            <a:r>
              <a:rPr lang="pt-BR" sz="2800" b="1" spc="-1" dirty="0">
                <a:latin typeface="Arial"/>
                <a:ea typeface="WenQuanYi Micro Hei"/>
              </a:rPr>
              <a:t xml:space="preserve">Realizar Atendimento, Disparar Campanha de Marketing e Movimentar Créditos e Limites.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3 Relatórios: </a:t>
            </a:r>
            <a:r>
              <a:rPr lang="pt-BR" sz="2800" b="1" spc="-1" dirty="0">
                <a:latin typeface="Arial"/>
                <a:ea typeface="WenQuanYi Micro Hei"/>
              </a:rPr>
              <a:t xml:space="preserve">Atendimentos Finalizados, Faturamento por Cliente e Desempenho das Campanhas.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Atendimento: </a:t>
            </a:r>
            <a:r>
              <a:rPr lang="pt-BR" sz="2800" b="1" spc="-1" dirty="0">
                <a:latin typeface="Arial"/>
                <a:ea typeface="WenQuanYi Micro Hei"/>
              </a:rPr>
              <a:t xml:space="preserve">conversas separadas em Aguardando, Em andamento, Em espera e Finalizado.</a:t>
            </a:r>
          </a:p>
          <a:p>
            <a:pPr algn="just">
              <a:lnSpc>
                <a:spcPct val="150000"/>
              </a:lnSpc>
              <a:buNone/>
            </a:pPr>
            <a:r>
              <a:rPr lang="pt-BR" sz="2000" b="1" spc="-1" dirty="0">
                <a:latin typeface="Arial"/>
                <a:ea typeface="WenQuanYi Micro Hei"/>
              </a:rPr>
              <a:t xml:space="preserve">Apoio: </a:t>
            </a:r>
            <a:r>
              <a:rPr lang="pt-BR" sz="2800" b="1" spc="-1" dirty="0">
                <a:latin typeface="Arial"/>
                <a:ea typeface="WenQuanYi Micro Hei"/>
              </a:rPr>
              <a:t xml:space="preserve">login, fila de envio com prioridade e canal WhatsApp Web (Business em breve).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00" y="1662111"/>
            <a:ext cx="11650000" cy="502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ESTADOS – ATENDIMENTO: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00" y="1876441"/>
            <a:ext cx="11649999" cy="4597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PROTÓTIPO – CAMPANHA DE MARKETING: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00" y="1821198"/>
            <a:ext cx="11650000" cy="4707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PROTÓTIPO – CANAL (WHATSAPP BUSINESS EM BREVE):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0000" y="2507086"/>
            <a:ext cx="11650000" cy="3335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PROTÓTIPO – TELA DE ATENDIMENTO: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0F25A-D663-3EED-DD1F-2A4046B1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BF7716F-F9B4-C799-DEAB-590716D9C9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9634" y="950000"/>
            <a:ext cx="7450731" cy="64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CaixaDeTexto 57">
            <a:extLst>
              <a:ext uri="{FF2B5EF4-FFF2-40B4-BE49-F238E27FC236}">
                <a16:creationId xmlns:a16="http://schemas.microsoft.com/office/drawing/2014/main" id="{DB494C84-BC43-1FB8-2B9E-01F9DDB5DEAB}"/>
              </a:ext>
            </a:extLst>
          </p:cNvPr>
          <p:cNvSpPr txBox="1"/>
          <p:nvPr/>
        </p:nvSpPr>
        <p:spPr>
          <a:xfrm>
            <a:off x="1283677" y="324000"/>
            <a:ext cx="11271738" cy="504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pt-BR" sz="2600" b="1" spc="-1" dirty="0">
                <a:solidFill>
                  <a:srgbClr val="FFDD00"/>
                </a:solidFill>
                <a:latin typeface="Verdana"/>
              </a:rPr>
              <a:t xml:space="preserve">DIAGRAMA DE SEQUÊNCIA – PROCESSAR A FILA E CONFIRMAR A ENTREGA:</a:t>
            </a:r>
          </a:p>
        </p:txBody>
      </p:sp>
    </p:spTree>
    <p:extLst>
      <p:ext uri="{BB962C8B-B14F-4D97-AF65-F5344CB8AC3E}">
        <p14:creationId xmlns:p14="http://schemas.microsoft.com/office/powerpoint/2010/main" val="3375850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857</TotalTime>
  <Words>269</Words>
  <Application>Microsoft Office PowerPoint</Application>
  <PresentationFormat>Personalizar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6" baseType="lpstr">
      <vt:lpstr>Aptos</vt:lpstr>
      <vt:lpstr>Arial</vt:lpstr>
      <vt:lpstr>Arial Black</vt:lpstr>
      <vt:lpstr>Symbol</vt:lpstr>
      <vt:lpstr>Times New Roman</vt:lpstr>
      <vt:lpstr>Verdana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William Roberto Pelissari</dc:creator>
  <dc:description/>
  <cp:lastModifiedBy>William Roberto Pelissari</cp:lastModifiedBy>
  <cp:revision>76</cp:revision>
  <dcterms:created xsi:type="dcterms:W3CDTF">2012-02-05T15:23:08Z</dcterms:created>
  <dcterms:modified xsi:type="dcterms:W3CDTF">2025-08-02T00:04:44Z</dcterms:modified>
  <dc:language>pt-BR</dc:language>
</cp:coreProperties>
</file>